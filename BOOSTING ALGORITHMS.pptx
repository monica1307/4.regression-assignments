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6679-6FE6-4F99-8065-B209D5FBAAFD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D9CCD-4DE3-40C5-898D-BA0B6594C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291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6679-6FE6-4F99-8065-B209D5FBAAFD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D9CCD-4DE3-40C5-898D-BA0B6594C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5563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6679-6FE6-4F99-8065-B209D5FBAAFD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D9CCD-4DE3-40C5-898D-BA0B6594C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1779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6679-6FE6-4F99-8065-B209D5FBAAFD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D9CCD-4DE3-40C5-898D-BA0B6594C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2174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6679-6FE6-4F99-8065-B209D5FBAAFD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D9CCD-4DE3-40C5-898D-BA0B6594C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249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6679-6FE6-4F99-8065-B209D5FBAAFD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D9CCD-4DE3-40C5-898D-BA0B6594C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0692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6679-6FE6-4F99-8065-B209D5FBAAFD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D9CCD-4DE3-40C5-898D-BA0B6594C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7138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6679-6FE6-4F99-8065-B209D5FBAAFD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D9CCD-4DE3-40C5-898D-BA0B6594C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0014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6679-6FE6-4F99-8065-B209D5FBAAFD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D9CCD-4DE3-40C5-898D-BA0B6594C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99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6679-6FE6-4F99-8065-B209D5FBAAFD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D9CCD-4DE3-40C5-898D-BA0B6594C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1625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6679-6FE6-4F99-8065-B209D5FBAAFD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D9CCD-4DE3-40C5-898D-BA0B6594C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917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706679-6FE6-4F99-8065-B209D5FBAAFD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7D9CCD-4DE3-40C5-898D-BA0B6594C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3004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BOOSTING ALGORITHMS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AdaBoost</a:t>
            </a: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Regressor</a:t>
            </a:r>
            <a:endParaRPr lang="en-GB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</a:t>
            </a:r>
            <a:r>
              <a:rPr lang="en-GB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Regressor</a:t>
            </a: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(Light Gradient Boosting Machine)</a:t>
            </a:r>
          </a:p>
        </p:txBody>
      </p:sp>
    </p:spTree>
    <p:extLst>
      <p:ext uri="{BB962C8B-B14F-4D97-AF65-F5344CB8AC3E}">
        <p14:creationId xmlns:p14="http://schemas.microsoft.com/office/powerpoint/2010/main" val="2534055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 smtClean="0"/>
              <a:t>AdaBoostRegressor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AdaBoost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stands for </a:t>
            </a:r>
            <a:r>
              <a:rPr lang="en-GB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Boosting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It is an </a:t>
            </a:r>
            <a:r>
              <a:rPr lang="en-GB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machine learning algorithm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that combines multiple weak models (usually small decision trees) to create a </a:t>
            </a:r>
            <a:r>
              <a:rPr lang="en-GB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strong model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GB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idea is:</a:t>
            </a:r>
          </a:p>
          <a:p>
            <a:pPr marL="0" indent="0">
              <a:buNone/>
            </a:pP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Adaboost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focuses more on the data points that the previous model predicted incorrectly.</a:t>
            </a:r>
          </a:p>
          <a:p>
            <a:pPr marL="0" indent="0">
              <a:buNone/>
            </a:pP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parameters:</a:t>
            </a:r>
          </a:p>
          <a:p>
            <a:pPr marL="457200" lvl="1" indent="0">
              <a:buNone/>
            </a:pP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n_estimators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Number of weak learners</a:t>
            </a:r>
          </a:p>
          <a:p>
            <a:pPr marL="457200" lvl="1" indent="0">
              <a:buNone/>
            </a:pP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earning_rate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controls how much each weak learner contributes.</a:t>
            </a:r>
          </a:p>
          <a:p>
            <a:pPr marL="457200" lvl="1" indent="0">
              <a:buNone/>
            </a:pP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Makes the result reproducible</a:t>
            </a:r>
          </a:p>
          <a:p>
            <a:pPr marL="0" indent="0">
              <a:buNone/>
            </a:pP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377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6974" y="339014"/>
            <a:ext cx="10470523" cy="5724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GB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AdaBoost</a:t>
            </a: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works</a:t>
            </a:r>
          </a:p>
          <a:p>
            <a:r>
              <a:rPr lang="en-GB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Suppose we have 10 training data points.</a:t>
            </a:r>
          </a:p>
          <a:p>
            <a:endParaRPr lang="en-GB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1: Give equal weights</a:t>
            </a:r>
            <a:endParaRPr lang="en-GB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Initially, every data point gets the same importance/weight. </a:t>
            </a:r>
          </a:p>
          <a:p>
            <a:endParaRPr lang="en-GB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2: Train the first weak learner</a:t>
            </a:r>
            <a:endParaRPr lang="en-GB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Usually, a small </a:t>
            </a:r>
            <a:r>
              <a:rPr lang="en-GB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(Decision Stump)</a:t>
            </a:r>
            <a:r>
              <a:rPr lang="en-GB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used.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makes predictions.</a:t>
            </a:r>
          </a:p>
          <a:p>
            <a:r>
              <a:rPr lang="en-GB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GB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3: Find the wrong predictions</a:t>
            </a:r>
            <a:endParaRPr lang="en-GB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AdaBoost</a:t>
            </a:r>
            <a:r>
              <a:rPr lang="en-GB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which data points were classified incorrectly. </a:t>
            </a:r>
          </a:p>
          <a:p>
            <a:endParaRPr lang="en-GB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4: Increase the weight of wrong predictions</a:t>
            </a:r>
            <a:endParaRPr lang="en-GB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incorrectly predicted points are given </a:t>
            </a:r>
            <a:r>
              <a:rPr lang="en-GB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higher weights</a:t>
            </a:r>
            <a:r>
              <a:rPr lang="en-GB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Correctly predicted points get relatively lower importance. </a:t>
            </a:r>
          </a:p>
          <a:p>
            <a:endParaRPr lang="en-GB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5: Train the next weak learner</a:t>
            </a:r>
            <a:endParaRPr lang="en-GB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next model focuses more on the difficult/misclassified data points. </a:t>
            </a:r>
          </a:p>
          <a:p>
            <a:endParaRPr lang="en-GB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6: Repeat</a:t>
            </a:r>
            <a:endParaRPr lang="en-GB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process continues for several weak learners. </a:t>
            </a:r>
          </a:p>
          <a:p>
            <a:endParaRPr lang="en-GB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7: Combine all models</a:t>
            </a:r>
            <a:endParaRPr lang="en-GB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all the weak learners are combined using their individual importance (model weight).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stronger learners have more influence on the final prediction.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599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220225"/>
          </a:xfrm>
        </p:spPr>
        <p:txBody>
          <a:bodyPr/>
          <a:lstStyle/>
          <a:p>
            <a:r>
              <a:rPr lang="en-GB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AdaBoost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648" y="1970468"/>
            <a:ext cx="8113690" cy="4095480"/>
          </a:xfrm>
        </p:spPr>
      </p:pic>
    </p:spTree>
    <p:extLst>
      <p:ext uri="{BB962C8B-B14F-4D97-AF65-F5344CB8AC3E}">
        <p14:creationId xmlns:p14="http://schemas.microsoft.com/office/powerpoint/2010/main" val="3502070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30073"/>
          </a:xfrm>
        </p:spPr>
        <p:txBody>
          <a:bodyPr>
            <a:normAutofit/>
          </a:bodyPr>
          <a:lstStyle/>
          <a:p>
            <a:r>
              <a:rPr lang="en-GB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Disadvantages</a:t>
            </a: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77793"/>
          </a:xfrm>
        </p:spPr>
        <p:txBody>
          <a:bodyPr>
            <a:noAutofit/>
          </a:bodyPr>
          <a:lstStyle/>
          <a:p>
            <a:pPr>
              <a:spcAft>
                <a:spcPts val="1400"/>
              </a:spcAft>
              <a:defRPr sz="1900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>
              <a:spcAft>
                <a:spcPts val="1400"/>
              </a:spcAft>
              <a:defRPr sz="1900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Simple and easy to understand</a:t>
            </a:r>
          </a:p>
          <a:p>
            <a:pPr>
              <a:spcAft>
                <a:spcPts val="1400"/>
              </a:spcAft>
              <a:defRPr sz="1900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Often gives strong prediction performance</a:t>
            </a:r>
          </a:p>
          <a:p>
            <a:pPr>
              <a:spcAft>
                <a:spcPts val="1400"/>
              </a:spcAft>
              <a:defRPr sz="1900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Reduces bias by combining weak </a:t>
            </a:r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learners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400"/>
              </a:spcAft>
              <a:defRPr sz="1900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</a:p>
          <a:p>
            <a:pPr>
              <a:spcAft>
                <a:spcPts val="1400"/>
              </a:spcAft>
              <a:defRPr sz="1900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✗ Sensitive to noisy data and outliers</a:t>
            </a:r>
          </a:p>
          <a:p>
            <a:pPr>
              <a:spcAft>
                <a:spcPts val="1400"/>
              </a:spcAft>
              <a:defRPr sz="1900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✗ Can be affected by incorrectly 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</a:p>
          <a:p>
            <a:pPr>
              <a:spcAft>
                <a:spcPts val="1400"/>
              </a:spcAft>
              <a:defRPr sz="1900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✗ Training is sequential, so it may be slower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180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78558"/>
          </a:xfrm>
        </p:spPr>
        <p:txBody>
          <a:bodyPr/>
          <a:lstStyle/>
          <a:p>
            <a:r>
              <a:rPr lang="en-GB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9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GB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stands for </a:t>
            </a:r>
            <a:r>
              <a:rPr lang="en-GB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Extreme Gradient Boosting</a:t>
            </a:r>
            <a:r>
              <a:rPr lang="en-GB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It is an </a:t>
            </a:r>
            <a:r>
              <a:rPr lang="en-GB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machine learning algorithm</a:t>
            </a:r>
            <a:r>
              <a:rPr lang="en-GB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</a:t>
            </a:r>
            <a:r>
              <a:rPr lang="en-GB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</a:t>
            </a:r>
            <a:r>
              <a:rPr lang="en-GB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It combines many </a:t>
            </a:r>
            <a:r>
              <a:rPr lang="en-GB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</a:t>
            </a:r>
            <a:r>
              <a:rPr lang="en-GB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create one strong predictive model.</a:t>
            </a:r>
          </a:p>
          <a:p>
            <a:pPr marL="0" indent="0">
              <a:buNone/>
            </a:pPr>
            <a:endParaRPr lang="en-GB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Parameters:</a:t>
            </a:r>
          </a:p>
          <a:p>
            <a:pPr>
              <a:spcAft>
                <a:spcPts val="1000"/>
              </a:spcAft>
              <a:defRPr sz="1700"/>
            </a:pP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n_estimators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Number of boosting trees</a:t>
            </a:r>
          </a:p>
          <a:p>
            <a:pPr>
              <a:spcAft>
                <a:spcPts val="1000"/>
              </a:spcAft>
              <a:defRPr sz="1700"/>
            </a:pP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learning_rate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Controls each tree's contribution</a:t>
            </a:r>
          </a:p>
          <a:p>
            <a:pPr>
              <a:spcAft>
                <a:spcPts val="1000"/>
              </a:spcAft>
              <a:defRPr sz="1700"/>
            </a:pP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max_depth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Maximum depth of each tree</a:t>
            </a:r>
          </a:p>
          <a:p>
            <a:pPr>
              <a:spcAft>
                <a:spcPts val="1000"/>
              </a:spcAft>
              <a:defRPr sz="1700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subsample → Fraction of training data used per tree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353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6851"/>
          </a:xfrm>
        </p:spPr>
        <p:txBody>
          <a:bodyPr/>
          <a:lstStyle/>
          <a:p>
            <a:pPr>
              <a:defRPr sz="3000" b="1"/>
            </a:pPr>
            <a:r>
              <a:rPr lang="en-GB" dirty="0"/>
              <a:t>How </a:t>
            </a:r>
            <a:r>
              <a:rPr lang="en-GB" dirty="0" err="1"/>
              <a:t>XGBoost</a:t>
            </a:r>
            <a:r>
              <a:rPr lang="en-GB" dirty="0"/>
              <a:t> Works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3037" y="1300766"/>
            <a:ext cx="10400763" cy="466215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GB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Suppose we want to predict house prices.</a:t>
            </a:r>
            <a:endParaRPr 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3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Step1</a:t>
            </a:r>
            <a:r>
              <a:rPr lang="en-GB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Make an initial prediction</a:t>
            </a:r>
          </a:p>
          <a:p>
            <a:pPr marL="0" indent="0">
              <a:buNone/>
            </a:pPr>
            <a:r>
              <a:rPr lang="en-GB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starts with a simple prediction.</a:t>
            </a:r>
          </a:p>
          <a:p>
            <a:pPr marL="0" indent="0">
              <a:buNone/>
            </a:pPr>
            <a:r>
              <a:rPr lang="en-GB" sz="3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Step2: </a:t>
            </a:r>
            <a:r>
              <a:rPr lang="en-GB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 the first decision tree</a:t>
            </a:r>
          </a:p>
          <a:p>
            <a:r>
              <a:rPr lang="en-GB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tree makes predictions based on the available features such as:</a:t>
            </a:r>
          </a:p>
          <a:p>
            <a:r>
              <a:rPr lang="en-GB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Area </a:t>
            </a:r>
          </a:p>
          <a:p>
            <a:r>
              <a:rPr lang="en-GB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bedrooms </a:t>
            </a:r>
          </a:p>
          <a:p>
            <a:r>
              <a:rPr lang="en-GB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</a:t>
            </a:r>
          </a:p>
          <a:p>
            <a:r>
              <a:rPr lang="en-GB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Age of house</a:t>
            </a:r>
          </a:p>
          <a:p>
            <a:pPr marL="0" indent="0">
              <a:buNone/>
            </a:pPr>
            <a:r>
              <a:rPr lang="en-GB" sz="3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Step3: </a:t>
            </a:r>
            <a:r>
              <a:rPr lang="en-GB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errors</a:t>
            </a:r>
          </a:p>
          <a:p>
            <a:pPr marL="0" indent="0">
              <a:buNone/>
            </a:pPr>
            <a:r>
              <a:rPr lang="en-GB" sz="3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GB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looks at the difference between the actual value and predicted value.</a:t>
            </a:r>
          </a:p>
          <a:p>
            <a:pPr marL="0" indent="0">
              <a:buNone/>
            </a:pPr>
            <a:r>
              <a:rPr lang="en-GB" sz="3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Step4: </a:t>
            </a:r>
            <a:r>
              <a:rPr lang="en-GB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 another tree</a:t>
            </a:r>
          </a:p>
          <a:p>
            <a:pPr marL="0" indent="0">
              <a:buNone/>
            </a:pPr>
            <a:r>
              <a:rPr lang="en-GB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next tree focuses on reducing the errors made by the previous model.</a:t>
            </a:r>
          </a:p>
          <a:p>
            <a:pPr marL="0" indent="0">
              <a:buNone/>
            </a:pPr>
            <a:r>
              <a:rPr lang="en-GB" sz="3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Step5: </a:t>
            </a:r>
            <a:r>
              <a:rPr lang="en-GB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Repeat</a:t>
            </a:r>
          </a:p>
          <a:p>
            <a:pPr marL="0" indent="0">
              <a:buNone/>
            </a:pPr>
            <a:r>
              <a:rPr lang="en-GB" sz="3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GB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keeps adding trees. Each new tree tries to improve the overall model by reducing the </a:t>
            </a:r>
            <a:r>
              <a:rPr lang="en-GB" sz="3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</a:t>
            </a:r>
            <a:r>
              <a:rPr lang="en-GB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3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937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711" y="1690689"/>
            <a:ext cx="8036416" cy="4426776"/>
          </a:xfrm>
        </p:spPr>
      </p:pic>
    </p:spTree>
    <p:extLst>
      <p:ext uri="{BB962C8B-B14F-4D97-AF65-F5344CB8AC3E}">
        <p14:creationId xmlns:p14="http://schemas.microsoft.com/office/powerpoint/2010/main" val="3388004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rPr lang="en-GB" dirty="0"/>
              <a:t>Advantages &amp; Disadvantages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4091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1000"/>
              </a:spcAft>
              <a:defRPr sz="1800"/>
            </a:pPr>
            <a:r>
              <a:rPr lang="en-GB" dirty="0"/>
              <a:t>Advantages:</a:t>
            </a:r>
          </a:p>
          <a:p>
            <a:pPr>
              <a:spcAft>
                <a:spcPts val="1000"/>
              </a:spcAft>
              <a:defRPr sz="1800"/>
            </a:pPr>
            <a:r>
              <a:rPr lang="en-GB" dirty="0"/>
              <a:t>✓ High prediction accuracy</a:t>
            </a:r>
          </a:p>
          <a:p>
            <a:pPr>
              <a:spcAft>
                <a:spcPts val="1000"/>
              </a:spcAft>
              <a:defRPr sz="1800"/>
            </a:pPr>
            <a:r>
              <a:rPr lang="en-GB" dirty="0"/>
              <a:t>✓ Works for classification and regression</a:t>
            </a:r>
          </a:p>
          <a:p>
            <a:pPr>
              <a:spcAft>
                <a:spcPts val="1000"/>
              </a:spcAft>
              <a:defRPr sz="1800"/>
            </a:pPr>
            <a:r>
              <a:rPr lang="en-GB" dirty="0"/>
              <a:t>✓ Handles missing values and many features</a:t>
            </a:r>
          </a:p>
          <a:p>
            <a:pPr>
              <a:spcAft>
                <a:spcPts val="1000"/>
              </a:spcAft>
              <a:defRPr sz="1800"/>
            </a:pPr>
            <a:r>
              <a:rPr lang="en-GB" dirty="0"/>
              <a:t>✓ Uses regularization to help reduce </a:t>
            </a:r>
            <a:r>
              <a:rPr lang="en-GB" dirty="0" err="1"/>
              <a:t>overfitting</a:t>
            </a:r>
            <a:endParaRPr lang="en-GB" dirty="0"/>
          </a:p>
          <a:p>
            <a:pPr>
              <a:spcAft>
                <a:spcPts val="1000"/>
              </a:spcAft>
              <a:defRPr sz="1800"/>
            </a:pPr>
            <a:endParaRPr lang="en-GB" dirty="0"/>
          </a:p>
          <a:p>
            <a:pPr>
              <a:spcAft>
                <a:spcPts val="1000"/>
              </a:spcAft>
              <a:defRPr sz="1800"/>
            </a:pPr>
            <a:r>
              <a:rPr lang="en-GB" dirty="0"/>
              <a:t>Disadvantages:</a:t>
            </a:r>
          </a:p>
          <a:p>
            <a:pPr>
              <a:spcAft>
                <a:spcPts val="1000"/>
              </a:spcAft>
              <a:defRPr sz="1800"/>
            </a:pPr>
            <a:r>
              <a:rPr lang="en-GB" dirty="0"/>
              <a:t>✗ Requires parameter tuning</a:t>
            </a:r>
          </a:p>
          <a:p>
            <a:pPr>
              <a:spcAft>
                <a:spcPts val="1000"/>
              </a:spcAft>
              <a:defRPr sz="1800"/>
            </a:pPr>
            <a:r>
              <a:rPr lang="en-GB" dirty="0"/>
              <a:t>✗ Can </a:t>
            </a:r>
            <a:r>
              <a:rPr lang="en-GB" dirty="0" err="1"/>
              <a:t>overfit</a:t>
            </a:r>
            <a:r>
              <a:rPr lang="en-GB" dirty="0"/>
              <a:t> if not configured properly</a:t>
            </a:r>
          </a:p>
          <a:p>
            <a:pPr>
              <a:spcAft>
                <a:spcPts val="1000"/>
              </a:spcAft>
              <a:defRPr sz="1800"/>
            </a:pPr>
            <a:r>
              <a:rPr lang="en-GB" dirty="0"/>
              <a:t>✗ More complex than simple ML models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670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(Light Gradient Boosting Machine)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an ensemble machine learning algorithm developed by Microsoft. It builds multiple </a:t>
            </a:r>
            <a:r>
              <a:rPr lang="en-GB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 sequentially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where each new tree tries to reduce the errors made by the previous trees.</a:t>
            </a:r>
          </a:p>
          <a:p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especially effective for large and high-dimensional datasets.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Parameters:</a:t>
            </a:r>
          </a:p>
          <a:p>
            <a:pPr>
              <a:spcAft>
                <a:spcPts val="900"/>
              </a:spcAft>
              <a:defRPr sz="1700"/>
            </a:pP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n_estimators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Number of boosting trees</a:t>
            </a:r>
          </a:p>
          <a:p>
            <a:pPr>
              <a:spcAft>
                <a:spcPts val="900"/>
              </a:spcAft>
              <a:defRPr sz="1700"/>
            </a:pP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learning_rate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Contribution of each tree</a:t>
            </a:r>
          </a:p>
          <a:p>
            <a:pPr>
              <a:spcAft>
                <a:spcPts val="900"/>
              </a:spcAft>
              <a:defRPr sz="1700"/>
            </a:pP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num_leaves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Controls tree complexity</a:t>
            </a:r>
          </a:p>
          <a:p>
            <a:pPr>
              <a:spcAft>
                <a:spcPts val="900"/>
              </a:spcAft>
              <a:defRPr sz="1700"/>
            </a:pP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max_depth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Limits tree depth</a:t>
            </a:r>
          </a:p>
          <a:p>
            <a:pPr marL="0" indent="0">
              <a:buNone/>
            </a:pPr>
            <a:endParaRPr lang="en-GB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266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2290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Suppose we want to predict house prices.</a:t>
            </a:r>
          </a:p>
          <a:p>
            <a:pPr marL="0" indent="0">
              <a:buNone/>
            </a:pPr>
            <a:r>
              <a:rPr lang="en-GB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Step1</a:t>
            </a:r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Make an initial prediction</a:t>
            </a:r>
          </a:p>
          <a:p>
            <a:pPr marL="0" indent="0">
              <a:buNone/>
            </a:pPr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starts with a simple prediction.</a:t>
            </a:r>
          </a:p>
          <a:p>
            <a:pPr marL="0" indent="0">
              <a:buNone/>
            </a:pPr>
            <a:r>
              <a:rPr lang="en-GB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Step2: </a:t>
            </a:r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 the first decision tree</a:t>
            </a:r>
          </a:p>
          <a:p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tree makes predictions based on the available features such as:</a:t>
            </a:r>
          </a:p>
          <a:p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Area </a:t>
            </a:r>
          </a:p>
          <a:p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bedrooms </a:t>
            </a:r>
          </a:p>
          <a:p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</a:t>
            </a:r>
          </a:p>
          <a:p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Age of house</a:t>
            </a:r>
          </a:p>
          <a:p>
            <a:pPr marL="0" indent="0">
              <a:buNone/>
            </a:pPr>
            <a:r>
              <a:rPr lang="en-GB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Step3: </a:t>
            </a:r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 from</a:t>
            </a:r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error</a:t>
            </a:r>
          </a:p>
          <a:p>
            <a:pPr marL="0" indent="0">
              <a:buNone/>
            </a:pPr>
            <a:r>
              <a:rPr lang="en-GB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calculates the error and builds the next tree to improve the prediction.</a:t>
            </a:r>
          </a:p>
          <a:p>
            <a:pPr marL="0" indent="0">
              <a:buNone/>
            </a:pPr>
            <a:r>
              <a:rPr lang="en-GB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important techniques:</a:t>
            </a:r>
          </a:p>
          <a:p>
            <a:pPr marL="0" indent="0">
              <a:buNone/>
            </a:pPr>
            <a:r>
              <a:rPr lang="en-GB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grows trees leaf-wise and uses histogram-based learning for efficiency.</a:t>
            </a:r>
          </a:p>
          <a:p>
            <a:pPr marL="0" indent="0">
              <a:buNone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889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LGBoost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377" y="1825625"/>
            <a:ext cx="7843234" cy="4446386"/>
          </a:xfrm>
        </p:spPr>
      </p:pic>
    </p:spTree>
    <p:extLst>
      <p:ext uri="{BB962C8B-B14F-4D97-AF65-F5344CB8AC3E}">
        <p14:creationId xmlns:p14="http://schemas.microsoft.com/office/powerpoint/2010/main" val="3155416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Disadvantages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900"/>
              </a:spcAft>
              <a:buNone/>
              <a:defRPr sz="1800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>
              <a:spcAft>
                <a:spcPts val="900"/>
              </a:spcAft>
              <a:defRPr sz="1800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Very fast training and prediction</a:t>
            </a:r>
          </a:p>
          <a:p>
            <a:pPr>
              <a:spcAft>
                <a:spcPts val="900"/>
              </a:spcAft>
              <a:defRPr sz="1800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Uses memory efficiently</a:t>
            </a:r>
          </a:p>
          <a:p>
            <a:pPr>
              <a:spcAft>
                <a:spcPts val="900"/>
              </a:spcAft>
              <a:defRPr sz="1800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Works well with large datasets and many features</a:t>
            </a:r>
          </a:p>
          <a:p>
            <a:pPr>
              <a:spcAft>
                <a:spcPts val="900"/>
              </a:spcAft>
              <a:defRPr sz="1800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Good accuracy for classification and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900"/>
              </a:spcAft>
              <a:buNone/>
              <a:defRPr sz="1800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</a:p>
          <a:p>
            <a:pPr>
              <a:spcAft>
                <a:spcPts val="900"/>
              </a:spcAft>
              <a:defRPr sz="1800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✗ Can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overfit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on small datasets</a:t>
            </a:r>
          </a:p>
          <a:p>
            <a:pPr>
              <a:spcAft>
                <a:spcPts val="900"/>
              </a:spcAft>
              <a:defRPr sz="1800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✗ Requires parameter tuning</a:t>
            </a:r>
          </a:p>
          <a:p>
            <a:pPr>
              <a:spcAft>
                <a:spcPts val="900"/>
              </a:spcAft>
              <a:defRPr sz="1800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✗ Leaf-wise growth can create complex trees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496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6208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1463</TotalTime>
  <Words>715</Words>
  <Application>Microsoft Office PowerPoint</Application>
  <PresentationFormat>Widescreen</PresentationFormat>
  <Paragraphs>121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BOOSTING ALGORITHMS</vt:lpstr>
      <vt:lpstr>AdaBoostRegressor</vt:lpstr>
      <vt:lpstr>PowerPoint Presentation</vt:lpstr>
      <vt:lpstr>AdaBoost Algorithm</vt:lpstr>
      <vt:lpstr>Advantages &amp; Disadvantages</vt:lpstr>
      <vt:lpstr>XgBoost Algorithm</vt:lpstr>
      <vt:lpstr>How XGBoost Works</vt:lpstr>
      <vt:lpstr>XgBoost Algorithm</vt:lpstr>
      <vt:lpstr>Advantages &amp; Disadvantages</vt:lpstr>
      <vt:lpstr>LightGBM (Light Gradient Boosting Machine)</vt:lpstr>
      <vt:lpstr>How it works</vt:lpstr>
      <vt:lpstr>LGBoost Algorithm</vt:lpstr>
      <vt:lpstr>Advantages &amp; Disadvantages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BOOSTING ALGORITHMS</dc:title>
  <dc:creator>NEW</dc:creator>
  <cp:lastModifiedBy>NEW</cp:lastModifiedBy>
  <cp:revision>16</cp:revision>
  <dcterms:created xsi:type="dcterms:W3CDTF">2026-08-10T23:51:58Z</dcterms:created>
  <dcterms:modified xsi:type="dcterms:W3CDTF">2026-08-12T00:15:32Z</dcterms:modified>
</cp:coreProperties>
</file>